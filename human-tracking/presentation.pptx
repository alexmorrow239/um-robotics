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06FBFD-2CCA-44A0-92C4-F9E874049CFD}">
  <a:tblStyle styleId="{B106FBFD-2CCA-44A0-92C4-F9E874049C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ef06fbd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ef06fbd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ef06fbd8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ef06fbd8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ef06fbd8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ef06fbd8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ef06fbd8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ef06fbd8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ef06fbd8f_3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ef06fbd8f_3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ef06fbd8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ef06fbd8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ef06fbd8f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ef06fbd8f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ef06fbd8f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ef06fbd8f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ef06fbd8f_3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ef06fbd8f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ef06fbd8f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ef06fbd8f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ef06fbd8f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ef06fbd8f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ef06fbd8f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ef06fbd8f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dmJexlKN2Og-x0kHgZOg4evgJ5xsGmCi/view" TargetMode="External"/><Relationship Id="rId4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cLNgbzXuhLsVV2D8VedF4Sk2_LoTzpyf/view" TargetMode="External"/><Relationship Id="rId4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aL3bj71zgBbSIDCWTTMkiosmdxTrCqzh/view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HSR Human Point Follower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Alex Morrow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a robot understand where a person is pointing and navigate there?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Human detection and tracking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Pose detection &amp; Accuracy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Goal: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Robot should attempt to detect a human in its field of vision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Robot should successfully identify humans only.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Robot should track human as long as it remains in sight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Robot should recognize pointing gesture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Robot should compute waypoint with relative accuracy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Robot should navigate to waypoint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OpenPose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What is OpenPose?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Open-source real-time multi-person keypoint detection library developed by CMU's Perceptual Computing Lab (Cao et al., 2017)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Detects body, hand, facial, and foot keypoints from RGB images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First real-time multi-person 2D pose estimation system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Why OpenPose for this project?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Real-time performance (~15-30 FPS depending on resolution)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Well-documented with pre-trained models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Provides confidence scores per keypoint (critical for filtering noise)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Details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Primary data used is the BODY_25 array which gives the positions of anchor points on the skeleton</a:t>
            </a:r>
            <a:endParaRPr/>
          </a:p>
        </p:txBody>
      </p:sp>
      <p:pic>
        <p:nvPicPr>
          <p:cNvPr id="74" name="Google Shape;74;p16" title="Screenshot 2025-12-09 at 9.54.3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7850" y="1152463"/>
            <a:ext cx="3054450" cy="25676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" name="Google Shape;75;p16"/>
          <p:cNvGraphicFramePr/>
          <p:nvPr/>
        </p:nvGraphicFramePr>
        <p:xfrm>
          <a:off x="31170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{B106FBFD-2CCA-44A0-92C4-F9E874049CFD}</a:tableStyleId>
              </a:tblPr>
              <a:tblGrid>
                <a:gridCol w="1698025"/>
                <a:gridCol w="1698025"/>
                <a:gridCol w="1698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Parameter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Reason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BODY_25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Full Body With Feet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Resolution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320x176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Faster Processing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Min confidence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Filter noise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Min Keypoints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Confirm Human Presence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the Waypoint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"Commodifying Pointing in HRI: Simple and Fast Pointing Gesture Detection from RGB-D Images", Bita Azari, Angelica Lim, Richard T. Vaughan, arXiv:1902.02636 (Feb 2019)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The paper compares several methods for computing pointing direction and finds that the </a:t>
            </a:r>
            <a:r>
              <a:rPr b="1" lang="en" sz="1700"/>
              <a:t>face-to-hand</a:t>
            </a:r>
            <a:r>
              <a:rPr lang="en" sz="1700"/>
              <a:t> vector best captures human pointing intention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graphicFrame>
        <p:nvGraphicFramePr>
          <p:cNvPr id="82" name="Google Shape;82;p17"/>
          <p:cNvGraphicFramePr/>
          <p:nvPr/>
        </p:nvGraphicFramePr>
        <p:xfrm>
          <a:off x="952500" y="3015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{B106FBFD-2CCA-44A0-92C4-F9E874049CFD}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Similarities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Differences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Both use combination of RGB and Depth data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Uses CNN-based detector, I used openpose BODY_25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Sample for depth, draw a ray to through the ground to estimate pointing location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Uses nose as facial anchor, I did not have nose available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Overview</a:t>
            </a:r>
            <a:endParaRPr/>
          </a:p>
        </p:txBody>
      </p:sp>
      <p:pic>
        <p:nvPicPr>
          <p:cNvPr id="88" name="Google Shape;88;p18" title="human_point_follower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817" y="1152475"/>
            <a:ext cx="708636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My Code Works</a:t>
            </a:r>
            <a:endParaRPr/>
          </a:p>
        </p:txBody>
      </p:sp>
      <p:graphicFrame>
        <p:nvGraphicFramePr>
          <p:cNvPr id="94" name="Google Shape;94;p19"/>
          <p:cNvGraphicFramePr/>
          <p:nvPr/>
        </p:nvGraphicFramePr>
        <p:xfrm>
          <a:off x="731513" y="113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{B106FBFD-2CCA-44A0-92C4-F9E874049CFD}</a:tableStyleId>
              </a:tblPr>
              <a:tblGrid>
                <a:gridCol w="2560325"/>
                <a:gridCol w="2560325"/>
                <a:gridCol w="2560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Behavior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Exit Condition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Wait for start signal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/human_point_follower/start = True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SEARCHING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Rotate base 36o degrees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Human detected 5 consecutive frames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TRACKING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Keep human centered in frame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Pointing gesture detected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DETECTED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Validate 3-second hold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Hold Confirmed -&gt; Compute waypoint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NAVIGATING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Dead-reckoning to target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Reached Destination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Wait for reset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 message on start topic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Detection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ROS Topic Inputs: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/hsrb/head_rgbd_sensor/rgb/image_rect_color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Outputs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/openpose/human_detected (Bool)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/openpose/keypoints (PoseArray)</a:t>
            </a:r>
            <a:endParaRPr/>
          </a:p>
        </p:txBody>
      </p:sp>
      <p:graphicFrame>
        <p:nvGraphicFramePr>
          <p:cNvPr id="101" name="Google Shape;101;p20"/>
          <p:cNvGraphicFramePr/>
          <p:nvPr/>
        </p:nvGraphicFramePr>
        <p:xfrm>
          <a:off x="952500" y="318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{B106FBFD-2CCA-44A0-92C4-F9E874049CFD}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Parameter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Purpose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min_keypoints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Ensure sufficient body visibility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min_confidence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Filter noise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detection_threshold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 frames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consistency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Pointing Gesture Recognition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760"/>
              <a:t>Three-Stage Validation:</a:t>
            </a:r>
            <a:endParaRPr sz="17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760"/>
              <a:t>Arm Straightness Check</a:t>
            </a:r>
            <a:endParaRPr b="1" sz="1760"/>
          </a:p>
          <a:p>
            <a:pPr indent="-34036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60"/>
              <a:buChar char="-"/>
            </a:pPr>
            <a:r>
              <a:rPr lang="en" sz="1760"/>
              <a:t>Calculate angle between upper arm (shoulder→elbow) and forearm (elbow→wrist)</a:t>
            </a:r>
            <a:endParaRPr sz="1760"/>
          </a:p>
          <a:p>
            <a:pPr indent="-34036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60"/>
              <a:buChar char="-"/>
            </a:pPr>
            <a:r>
              <a:rPr lang="en" sz="1760"/>
              <a:t>Threshold: &lt; 25° deviation from straight line</a:t>
            </a:r>
            <a:endParaRPr sz="17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760"/>
              <a:t>A</a:t>
            </a:r>
            <a:r>
              <a:rPr b="1" lang="en" sz="1760"/>
              <a:t>rm Extension Check</a:t>
            </a:r>
            <a:endParaRPr b="1" sz="1760"/>
          </a:p>
          <a:p>
            <a:pPr indent="-34036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60"/>
              <a:buChar char="-"/>
            </a:pPr>
            <a:r>
              <a:rPr lang="en" sz="1760"/>
              <a:t>Wrist must be &gt; 50% of full arm length from shoulder</a:t>
            </a:r>
            <a:endParaRPr sz="1760"/>
          </a:p>
          <a:p>
            <a:pPr indent="-34036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60"/>
              <a:buChar char="-"/>
            </a:pPr>
            <a:r>
              <a:rPr lang="en" sz="1760"/>
              <a:t>Ensures arm is actually extended, not bent at side</a:t>
            </a:r>
            <a:endParaRPr sz="1760"/>
          </a:p>
          <a:p>
            <a:pPr indent="-34036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60"/>
              <a:buChar char="-"/>
            </a:pPr>
            <a:r>
              <a:rPr lang="en" sz="1760"/>
              <a:t>Neutral Arm Filter</a:t>
            </a:r>
            <a:endParaRPr sz="1760"/>
          </a:p>
          <a:p>
            <a:pPr indent="-34036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60"/>
              <a:buChar char="-"/>
            </a:pPr>
            <a:r>
              <a:rPr lang="en" sz="1760"/>
              <a:t>Reject if wrist is significantly below elbow (&gt; 30 pixels)</a:t>
            </a:r>
            <a:endParaRPr sz="17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lang="en" sz="1760"/>
              <a:t>Prevents detecting hanging arms as pointing</a:t>
            </a:r>
            <a:endParaRPr sz="176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&amp; Future Directions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Limitations:</a:t>
            </a:r>
            <a:endParaRPr b="1"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Omniverse simulations do not have good human model support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Unable to use detailed face model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Openpose installation and configuration</a:t>
            </a:r>
            <a:endParaRPr sz="1600"/>
          </a:p>
        </p:txBody>
      </p:sp>
      <p:sp>
        <p:nvSpPr>
          <p:cNvPr id="114" name="Google Shape;114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Future Directions: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Using ensemble ML model for task instead.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 current project simulation as foundation for reinforcement learning </a:t>
            </a:r>
            <a:r>
              <a:rPr lang="en"/>
              <a:t>environment</a:t>
            </a:r>
            <a:r>
              <a:rPr lang="en"/>
              <a:t>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Classification for point detection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3" title="Screencast from 2025-12-08 18-07-07.webm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 title="Screencast from 2025-12-08 17-49-52.webm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 title="Screencast from 2025-12-08 17-35-57.webm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